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29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8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Доброго дня, шановна комісіє. Мене звати Кінаш Валентин, студент групи КН-41. Тема моєї кваліфікаційної роботи — «Система детекції шахрайських транзакцій на основі машинного навчання». Керівник роботи — Кульчинська Наталія Зіновіївна. Дозвольте представити результати виконаної роботи.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Актуальність теми зумовлена стрімким зростанням обсягів безготівкових розрахунків і, відповідно, шахрайських транзакцій. Глобальні збитки перевищують 33 мільярди доларів на рік. Частка шахрайства у реальних даних — менше 0,2 відсотка, що ускладнює побудову моделей через сильний дисбаланс класів. В Україні проблема загострилась через масовий перехід на дистанційне обслуговування. Традиційні системи на основі жорстких правил не справляються з цим викликом.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Метою роботи є розробка системи виявлення фінансових махінацій на основі алгоритму LightGBM із забезпеченням пояснюваності рішень засобами SHAP. З цієї мети випливають конкретні завдання: аналіз предметної області, проєктування архітектури, реалізація та навчання моделі, розробка програмного інтерфейсу і веб-застосунку, а також комплексне тестування системи.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Об'єктом дослідження є процеси виявлення шахрайських фінансових транзакцій у банківських та фінансових інформаційних системах. Предметом дослідження є алгоритми градієнтного бустингу та методи пояснюваності ML-моделей, зокрема для роботи з незбалансованими транзакційними даними.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 проаналізував провідні рішення на ринку — Visa Advanced Authorization, Mastercard Decision Intelligence, PayPal Fraud System та Stripe Radar. Усі вони використовують методи машинного навчання для оцінки ризику транзакцій у реальному часі. Проте мають спільний суттєвий недолік: це повністю закриті комерційні системи.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Порівняння за чотирма критеріями показує перевагу розробленої системи: вона використовує LightGBM з часовою крос-валідацією, забезпечує повну SHAP-пояснюваність кожного рішення, має відкриту архітектуру для аудиту та надає REST API для інтеграції з будь-якою платіжною системою, на відміну від закритих рішень конкурентів.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Реалізація виконана мовою Python версії 3.10. Для побудови моделі класифікації обрано алгоритм LightGBM — реалізацію градієнтного бустингу, оптимізовану для роботи з незбалансованими даними. Пояснюваність рішень забезпечує бібліотека SHAP. Серверна частина — FastAPI, веб-інтерфейс — Streamlit, тестування — pytest.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Архітектура системи побудована як п'ятикомпонентний конвеєр з однонаправленим потоком даних: від сирих транзакцій через модуль інженерії ознак, навчання моделі, інференс із поясненнями, до API та інтерфейсу. Принцип time-aware обчислення гарантує відсутність витоку даних під час навчання.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Модуль формує 16-вимірний вектор ознак з чотирьох груп: часові характеристики транзакції, поведінкові агрегати користувача за часовими вікнами 1, 24 і 168 годин, характеристики мерчанта та бінарні флаги аномалій. Принцип time-aware обчислення гарантує, що для кожної транзакції враховуються лише попередні операції.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класифікації обрано LightGBM через ефективність на незбалансованих даних і сумісність із SHAP. Навчання проводилось із часовою крос-валідацією TimeSeriesSplit на п'яти фолдах. Як метрика якості використано PR-AUC — інформативнішу за ROC-AUC для дисбалансованих задач. Середнє значення — 0,884, найкращий фолд — 0,903, що перевищує цільову вимогу 0,85.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SHAP TreeExplainer обчислює точні значення Шеплі для кожної ознаки. Для кожної транзакції система формує локальне пояснення — топ-5 ознак з найбільшим внеском у рішення. У наведеному прикладі головна причина — сума у 12,3 рази більша за середню для користувача, далі — новий пристрій і нічний час операції.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 API на FastAPI надає три ендпоінти: перевірку статусу системи, оцінку окремої транзакції з SHAP-поясненням та пакетну обробку до тисячі транзакцій. Усі вхідні дані валідуються Pydantic-схемами, реалізовано middleware логування й обмеження частоти запитів. Сервіс контейнеризований у Docker для зручного розгортання.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Веб-інтерфейс побудований як односторінковий застосунок з навігацією через бічну панель, що містить три сторінки: перевірка окремої транзакції, пакетна обробка CSV-файлів та аналітична панель зі станом системи.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Користувач вводить параметри транзакції у формі та натискає кнопку перевірки. Система за 87 мілісекунд повертає результат — у цьому прикладі ймовірність шахрайства 92,3 відсотки, рішення BLOCK, рівень ризику HIGH.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Ліворуч — SHAP-пояснення: топ ознак з точним числовим внеском і текстовим описом причини рішення. Праворуч — сторінка пакетної обробки: завантаження CSV-файлу з транзакціями, зведена статистика та можливість вивантажити результати з доданими колонками ймовірності та рівня ризику.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Тестування проводилось у чотирьох категоріях: модульне тестування модулів інженерії ознак та інференсу, інтеграційне тестування взаємодії компонентів і функціональне тестування API. Загалом 85 тест-кейсів пройдено без жодної помилки, покриття коду тестами склало 89 відсотків.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Навантажувальне тестування інструментом Locust симулювало 50 паралельних користувачів протягом 5 хвилин. Загалом 14 820 запитів, 0 помилок. Медіана часу відповіді — 87 мілісекунд, що у 5,7 рази нижче за встановлений поріг SLA у 500 мілісекунд. Пропускна здатність — 49,4 запити за секунду.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Розрахунок техніко-економічної ефективності показав, що термін окупності розробки складає менше року — 0,82 року, за рахунок зниження потреби в ручній перевірці транзакцій приблизно на 60 відсотків та зменшення втрат від пропущених шахрайських операцій.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Подальший розвиток системи передбачає інтеграцію графових нейронних мереж для виявлення складних мережевих схем шахрайства, впровадження методів онлайн-навчання для адаптації до нових патернів без повного перенавчання моделі, а також розширений аудит-журнал рішень для регуляторної звітності.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Підсумовуючи: у роботі розроблено повнофункціональну систему виявлення фінансових махінацій. Реалізовано п'ятикомпонентну архітектуру з чітким розподілом відповідальності між модулями. Модель LightGBM на часовій крос-валідації досягла PR-AUC 0,903 на найкращому фолді, що перевищує цільову вимогу 0,85. SHAP-пояснюваність гарантує прозорість кожного рішення. Комплексне тестування — 85 тест-кейсів без жодної помилки, покриття коду 89 відсотків, медіана часу відповіді API — 87 мілісекунд. Розрахований термін окупності розробки складає менше року.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Дякую за увагу. Готовий відповісти на запитання комісії.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05840" cy="0"/>
          </a:xfrm>
          <a:prstGeom prst="line">
            <a:avLst/>
          </a:prstGeom>
          <a:noFill/>
          <a:ln w="15240">
            <a:solidFill>
              <a:srgbClr val="C9A2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0" cy="1005840"/>
          </a:xfrm>
          <a:prstGeom prst="line">
            <a:avLst/>
          </a:prstGeom>
          <a:noFill/>
          <a:ln w="1524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4686300"/>
            <a:ext cx="0" cy="0"/>
          </a:xfrm>
          <a:prstGeom prst="line">
            <a:avLst/>
          </a:prstGeom>
          <a:noFill/>
          <a:ln w="1524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0" y="4686300"/>
            <a:ext cx="0" cy="0"/>
          </a:xfrm>
          <a:prstGeom prst="line">
            <a:avLst/>
          </a:prstGeom>
          <a:noFill/>
          <a:ln w="15240">
            <a:solidFill>
              <a:srgbClr val="C9A227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777240"/>
            <a:ext cx="1005840" cy="1005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КВАЛІФІКАЦІЙНА РОБОТА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37744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Система детекції шахрайських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транзакцій на основі машинного навчання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0" y="3977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8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Кінаш </a:t>
            </a:r>
            <a:r>
              <a:rPr lang="en-US" sz="1300" dirty="0" err="1">
                <a:solidFill>
                  <a:srgbClr val="B8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Валентин</a:t>
            </a:r>
            <a:r>
              <a:rPr lang="en-US" sz="1300" dirty="0">
                <a:solidFill>
                  <a:srgbClr val="B8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B8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Володимирович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0" y="42793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Керівник: Кульчинська Наталія Зіновіївна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Галицький фаховий коледж імені В'ячеслава Чорновола · Тернопіль · 2026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Актуальність теми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50292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88720"/>
            <a:ext cx="2560320" cy="2331720"/>
          </a:xfrm>
          <a:prstGeom prst="roundRect">
            <a:avLst>
              <a:gd name="adj" fmla="val 2745"/>
            </a:avLst>
          </a:prstGeom>
          <a:solidFill>
            <a:srgbClr val="0A0A0A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4173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9202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$33 млрд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85800" y="2487168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глобальні збитки від карткового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шахрайства за рік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91840" y="1188720"/>
            <a:ext cx="2560320" cy="2331720"/>
          </a:xfrm>
          <a:prstGeom prst="roundRect">
            <a:avLst>
              <a:gd name="adj" fmla="val 2745"/>
            </a:avLst>
          </a:prstGeom>
          <a:solidFill>
            <a:srgbClr val="0A0A0A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008" y="14173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83280" y="19202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0,2%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3429000" y="2487168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частка шахрайських транзакцій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реальних датасетах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35040" y="1188720"/>
            <a:ext cx="2560320" cy="2331720"/>
          </a:xfrm>
          <a:prstGeom prst="roundRect">
            <a:avLst>
              <a:gd name="adj" fmla="val 2745"/>
            </a:avLst>
          </a:prstGeom>
          <a:solidFill>
            <a:srgbClr val="0A0A0A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141732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26480" y="19202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Зростає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6172200" y="2487168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тенденція в Україні під час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масових дистанційних платежів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8046720" cy="868680"/>
          </a:xfrm>
          <a:prstGeom prst="roundRect">
            <a:avLst>
              <a:gd name="adj" fmla="val 6316"/>
            </a:avLst>
          </a:prstGeom>
          <a:solidFill>
            <a:schemeClr val="bg1">
              <a:lumMod val="75000"/>
            </a:schemeClr>
          </a:solidFill>
          <a:ln/>
        </p:spPr>
      </p:sp>
      <p:sp>
        <p:nvSpPr>
          <p:cNvPr id="17" name="Text 12"/>
          <p:cNvSpPr/>
          <p:nvPr/>
        </p:nvSpPr>
        <p:spPr>
          <a:xfrm>
            <a:off x="777240" y="3858768"/>
            <a:ext cx="7589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Традиційні правило-орієнтовані системи не адаптуються до нових схем шахрайства і генерують надмірну кількість хибних спрацьовувань.</a:t>
            </a:r>
            <a:endParaRPr lang="en-US" sz="1250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Мета роботи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50292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468880" y="1417320"/>
            <a:ext cx="6126480" cy="1874520"/>
          </a:xfrm>
          <a:prstGeom prst="roundRect">
            <a:avLst>
              <a:gd name="adj" fmla="val 3415"/>
            </a:avLst>
          </a:prstGeom>
          <a:solidFill>
            <a:srgbClr val="171717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697480" y="1417320"/>
            <a:ext cx="566928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Розробити систему виявлення фінансових махінацій на основі алгоритму LightGBM із забезпеченням пояснюваності рішень засобами SHAP.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3520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Завдання, що випливають із мети: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886200"/>
            <a:ext cx="1627632" cy="566928"/>
          </a:xfrm>
          <a:prstGeom prst="roundRect">
            <a:avLst>
              <a:gd name="adj" fmla="val 16129"/>
            </a:avLst>
          </a:prstGeom>
          <a:solidFill>
            <a:srgbClr val="17171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3504" y="3886200"/>
            <a:ext cx="15179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 предметної області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249424" y="3886200"/>
            <a:ext cx="1627632" cy="566928"/>
          </a:xfrm>
          <a:prstGeom prst="roundRect">
            <a:avLst>
              <a:gd name="adj" fmla="val 16129"/>
            </a:avLst>
          </a:prstGeom>
          <a:solidFill>
            <a:srgbClr val="17171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304288" y="3886200"/>
            <a:ext cx="15179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Проєктування архітектури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950208" y="3886200"/>
            <a:ext cx="1627632" cy="566928"/>
          </a:xfrm>
          <a:prstGeom prst="roundRect">
            <a:avLst>
              <a:gd name="adj" fmla="val 16129"/>
            </a:avLst>
          </a:prstGeom>
          <a:solidFill>
            <a:srgbClr val="17171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05072" y="3886200"/>
            <a:ext cx="15179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Реалізація та навчання моделі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650992" y="3886200"/>
            <a:ext cx="1627632" cy="566928"/>
          </a:xfrm>
          <a:prstGeom prst="roundRect">
            <a:avLst>
              <a:gd name="adj" fmla="val 16129"/>
            </a:avLst>
          </a:prstGeom>
          <a:solidFill>
            <a:srgbClr val="17171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05856" y="3886200"/>
            <a:ext cx="15179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Розробка API та інтерфейсу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351776" y="3886200"/>
            <a:ext cx="1627632" cy="566928"/>
          </a:xfrm>
          <a:prstGeom prst="roundRect">
            <a:avLst>
              <a:gd name="adj" fmla="val 16129"/>
            </a:avLst>
          </a:prstGeom>
          <a:solidFill>
            <a:srgbClr val="17171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06640" y="3886200"/>
            <a:ext cx="15179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Тестування системи</a:t>
            </a:r>
            <a:endParaRPr lang="en-US" sz="900" dirty="0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Об'єкт та предмет дослідження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50292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3886200" cy="2743200"/>
          </a:xfrm>
          <a:prstGeom prst="roundRect">
            <a:avLst>
              <a:gd name="adj" fmla="val 2333"/>
            </a:avLst>
          </a:prstGeom>
          <a:solidFill>
            <a:srgbClr val="0A0A0A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Об'єкт дослідження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651760"/>
            <a:ext cx="3337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Процеси виявлення шахрайських фінансових транзакцій у банківських та фінансових інформаційних системах.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09160" y="1371600"/>
            <a:ext cx="3886200" cy="2743200"/>
          </a:xfrm>
          <a:prstGeom prst="roundRect">
            <a:avLst>
              <a:gd name="adj" fmla="val 2333"/>
            </a:avLst>
          </a:prstGeom>
          <a:solidFill>
            <a:srgbClr val="0A0A0A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64592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83480" y="22860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Предмет дослідження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983480" y="2651760"/>
            <a:ext cx="3337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Алгоритми градієнтного бустингу та методи пояснюваності ML-моделей для класифікації незбалансованих даних.</a:t>
            </a:r>
            <a:endParaRPr lang="en-US" sz="1300" dirty="0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Аналіз існуючих рішень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50292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88720"/>
            <a:ext cx="1828800" cy="2103120"/>
          </a:xfrm>
          <a:prstGeom prst="roundRect">
            <a:avLst>
              <a:gd name="adj" fmla="val 3500"/>
            </a:avLst>
          </a:prstGeom>
          <a:solidFill>
            <a:srgbClr val="171717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325880"/>
            <a:ext cx="1609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Advanced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05840" y="2057400"/>
            <a:ext cx="91440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2194560"/>
            <a:ext cx="15727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risk-scoring у реальному часі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0" y="1188720"/>
            <a:ext cx="1828800" cy="2103120"/>
          </a:xfrm>
          <a:prstGeom prst="roundRect">
            <a:avLst>
              <a:gd name="adj" fmla="val 3500"/>
            </a:avLst>
          </a:prstGeom>
          <a:solidFill>
            <a:srgbClr val="171717"/>
          </a:solidFill>
          <a:ln/>
        </p:spPr>
      </p:sp>
      <p:sp>
        <p:nvSpPr>
          <p:cNvPr id="9" name="Text 7"/>
          <p:cNvSpPr/>
          <p:nvPr/>
        </p:nvSpPr>
        <p:spPr>
          <a:xfrm>
            <a:off x="2670048" y="1325880"/>
            <a:ext cx="1609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 Decision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17520" y="2057400"/>
            <a:ext cx="91440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88336" y="2194560"/>
            <a:ext cx="15727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Поведінкові моделі клієнтів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0" y="1188720"/>
            <a:ext cx="1828800" cy="2103120"/>
          </a:xfrm>
          <a:prstGeom prst="roundRect">
            <a:avLst>
              <a:gd name="adj" fmla="val 3500"/>
            </a:avLst>
          </a:prstGeom>
          <a:solidFill>
            <a:srgbClr val="171717"/>
          </a:solidFill>
          <a:ln/>
        </p:spPr>
      </p:sp>
      <p:sp>
        <p:nvSpPr>
          <p:cNvPr id="13" name="Text 11"/>
          <p:cNvSpPr/>
          <p:nvPr/>
        </p:nvSpPr>
        <p:spPr>
          <a:xfrm>
            <a:off x="4681728" y="1325880"/>
            <a:ext cx="1609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 Fraud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2057400"/>
            <a:ext cx="91440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0016" y="2194560"/>
            <a:ext cx="15727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Deep Learning, Graph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83680" y="1188720"/>
            <a:ext cx="1828800" cy="2103120"/>
          </a:xfrm>
          <a:prstGeom prst="roundRect">
            <a:avLst>
              <a:gd name="adj" fmla="val 3500"/>
            </a:avLst>
          </a:prstGeom>
          <a:solidFill>
            <a:srgbClr val="171717"/>
          </a:solidFill>
          <a:ln/>
        </p:spPr>
      </p:sp>
      <p:sp>
        <p:nvSpPr>
          <p:cNvPr id="17" name="Text 15"/>
          <p:cNvSpPr/>
          <p:nvPr/>
        </p:nvSpPr>
        <p:spPr>
          <a:xfrm>
            <a:off x="6693408" y="1325880"/>
            <a:ext cx="1609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040880" y="2057400"/>
            <a:ext cx="91440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11696" y="2194560"/>
            <a:ext cx="15727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+ правила, REST API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8046720" cy="1051560"/>
          </a:xfrm>
          <a:prstGeom prst="roundRect">
            <a:avLst>
              <a:gd name="adj" fmla="val 5217"/>
            </a:avLst>
          </a:prstGeom>
          <a:solidFill>
            <a:srgbClr val="1A1605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584448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Спільний недолік: усі рішення — закриті комерційні системи без можливості аудиту логіки моделі.</a:t>
            </a:r>
            <a:endParaRPr lang="en-US" sz="1300" dirty="0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Порівняння з розробленою системою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50292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30175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C9A227"/>
                          </a:solidFill>
                        </a:rPr>
                        <a:t>Критерій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9A227"/>
                          </a:solidFill>
                        </a:rPr>
                        <a:t>Ринкові рішення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A0A0A"/>
                          </a:solidFill>
                        </a:rPr>
                        <a:t>Розроблена система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0A0A"/>
                          </a:solidFill>
                        </a:rPr>
                        <a:t>Алгоритм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8A8A85"/>
                          </a:solidFill>
                        </a:rPr>
                        <a:t>Закрита (NN/ансамблі)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A0A0A"/>
                          </a:solidFill>
                        </a:rPr>
                        <a:t>LightGBM + TimeSeriesSplit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0A0A"/>
                          </a:solidFill>
                        </a:rPr>
                        <a:t>Пояснюваність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8A8A85"/>
                          </a:solidFill>
                        </a:rPr>
                        <a:t>Відсутня / часткова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A0A0A"/>
                          </a:solidFill>
                        </a:rPr>
                        <a:t>SHAP — повна, локальна й глобальна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0A0A"/>
                          </a:solidFill>
                        </a:rPr>
                        <a:t>Доступ до коду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8A8A85"/>
                          </a:solidFill>
                        </a:rPr>
                        <a:t>Закритий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A0A0A"/>
                          </a:solidFill>
                        </a:rPr>
                        <a:t>Відкрита архітектура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0A0A"/>
                          </a:solidFill>
                        </a:rPr>
                        <a:t>Інтеграція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8A8A85"/>
                          </a:solidFill>
                        </a:rPr>
                        <a:t>Прив'язка до платіжної системи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A0A0A"/>
                          </a:solidFill>
                        </a:rPr>
                        <a:t>REST API — будь-яка інтеграція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Середовище програмування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50292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88720"/>
            <a:ext cx="2587752" cy="1481328"/>
          </a:xfrm>
          <a:prstGeom prst="roundRect">
            <a:avLst>
              <a:gd name="adj" fmla="val 3704"/>
            </a:avLst>
          </a:prstGeom>
          <a:solidFill>
            <a:srgbClr val="F5F5F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89888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1901952"/>
            <a:ext cx="21854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49808" y="2231136"/>
            <a:ext cx="2185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основна мова реалізації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46120" y="1188720"/>
            <a:ext cx="2587752" cy="1481328"/>
          </a:xfrm>
          <a:prstGeom prst="roundRect">
            <a:avLst>
              <a:gd name="adj" fmla="val 3704"/>
            </a:avLst>
          </a:prstGeom>
          <a:solidFill>
            <a:srgbClr val="F5F5F3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1389888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47288" y="1901952"/>
            <a:ext cx="21854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447288" y="2231136"/>
            <a:ext cx="2185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градієнтний бустинг, класифікація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943600" y="1188720"/>
            <a:ext cx="2587752" cy="1481328"/>
          </a:xfrm>
          <a:prstGeom prst="roundRect">
            <a:avLst>
              <a:gd name="adj" fmla="val 3704"/>
            </a:avLst>
          </a:prstGeom>
          <a:solidFill>
            <a:srgbClr val="F5F5F3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768" y="1389888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44768" y="1901952"/>
            <a:ext cx="21854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144768" y="2231136"/>
            <a:ext cx="2185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пояснюваність рішень моделі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48640" y="2807208"/>
            <a:ext cx="2587752" cy="1481328"/>
          </a:xfrm>
          <a:prstGeom prst="roundRect">
            <a:avLst>
              <a:gd name="adj" fmla="val 3704"/>
            </a:avLst>
          </a:prstGeom>
          <a:solidFill>
            <a:srgbClr val="F5F5F3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3008376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9808" y="3520440"/>
            <a:ext cx="21854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749808" y="3849624"/>
            <a:ext cx="2185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асинхронний REST API сервіс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3246120" y="2807208"/>
            <a:ext cx="2587752" cy="1481328"/>
          </a:xfrm>
          <a:prstGeom prst="roundRect">
            <a:avLst>
              <a:gd name="adj" fmla="val 3704"/>
            </a:avLst>
          </a:prstGeom>
          <a:solidFill>
            <a:srgbClr val="F5F5F3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7288" y="3008376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447288" y="3520440"/>
            <a:ext cx="21854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3447288" y="3849624"/>
            <a:ext cx="2185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веб-інтерфейс користувача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5943600" y="2807208"/>
            <a:ext cx="2587752" cy="1481328"/>
          </a:xfrm>
          <a:prstGeom prst="roundRect">
            <a:avLst>
              <a:gd name="adj" fmla="val 3704"/>
            </a:avLst>
          </a:prstGeom>
          <a:solidFill>
            <a:srgbClr val="F5F5F3"/>
          </a:solidFill>
          <a:ln/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4768" y="3008376"/>
            <a:ext cx="384048" cy="38404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144768" y="3520440"/>
            <a:ext cx="21854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6144768" y="3849624"/>
            <a:ext cx="2185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автоматизоване тестування</a:t>
            </a:r>
            <a:endParaRPr lang="en-US" sz="1050" dirty="0"/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Архітектура системи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50292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463040"/>
            <a:ext cx="1499616" cy="1691640"/>
          </a:xfrm>
          <a:prstGeom prst="roundRect">
            <a:avLst>
              <a:gd name="adj" fmla="val 4878"/>
            </a:avLst>
          </a:prstGeom>
          <a:solidFill>
            <a:srgbClr val="171717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162763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148840"/>
            <a:ext cx="1408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Дані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02920" y="2468880"/>
            <a:ext cx="1408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транзакції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975104" y="19659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A227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157984" y="1463040"/>
            <a:ext cx="1499616" cy="1691640"/>
          </a:xfrm>
          <a:prstGeom prst="roundRect">
            <a:avLst>
              <a:gd name="adj" fmla="val 4878"/>
            </a:avLst>
          </a:prstGeom>
          <a:solidFill>
            <a:srgbClr val="171717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9192" y="162763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203704" y="2148840"/>
            <a:ext cx="1408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Ознаки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2203704" y="2468880"/>
            <a:ext cx="1408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features.py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3675888" y="19659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A227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3858768" y="1463040"/>
            <a:ext cx="1499616" cy="1691640"/>
          </a:xfrm>
          <a:prstGeom prst="roundRect">
            <a:avLst>
              <a:gd name="adj" fmla="val 4878"/>
            </a:avLst>
          </a:prstGeom>
          <a:solidFill>
            <a:srgbClr val="171717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9976" y="1627632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904488" y="2148840"/>
            <a:ext cx="1408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Навчання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3904488" y="2468880"/>
            <a:ext cx="1408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train.py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5376672" y="19659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A227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5559552" y="1463040"/>
            <a:ext cx="1499616" cy="1691640"/>
          </a:xfrm>
          <a:prstGeom prst="roundRect">
            <a:avLst>
              <a:gd name="adj" fmla="val 4878"/>
            </a:avLst>
          </a:prstGeom>
          <a:solidFill>
            <a:srgbClr val="171717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1627632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05272" y="2148840"/>
            <a:ext cx="1408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Інференс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5605272" y="2468880"/>
            <a:ext cx="1408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inference.py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7077456" y="19659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A227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7260336" y="1463040"/>
            <a:ext cx="1499616" cy="1691640"/>
          </a:xfrm>
          <a:prstGeom prst="roundRect">
            <a:avLst>
              <a:gd name="adj" fmla="val 4878"/>
            </a:avLst>
          </a:prstGeom>
          <a:solidFill>
            <a:srgbClr val="171717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1544" y="1627632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306056" y="2148840"/>
            <a:ext cx="1408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UI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7306056" y="2468880"/>
            <a:ext cx="1408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api.py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548640" y="3520440"/>
            <a:ext cx="1892808" cy="1234440"/>
          </a:xfrm>
          <a:prstGeom prst="roundRect">
            <a:avLst>
              <a:gd name="adj" fmla="val 4444"/>
            </a:avLst>
          </a:prstGeom>
          <a:solidFill>
            <a:srgbClr val="171717"/>
          </a:solidFill>
          <a:ln/>
        </p:spPr>
      </p:sp>
      <p:sp>
        <p:nvSpPr>
          <p:cNvPr id="29" name="Text 22"/>
          <p:cNvSpPr/>
          <p:nvPr/>
        </p:nvSpPr>
        <p:spPr>
          <a:xfrm>
            <a:off x="640080" y="3611880"/>
            <a:ext cx="1709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ознак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640080" y="4005072"/>
            <a:ext cx="17099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часові + поведінкові + флаги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2624328" y="3520440"/>
            <a:ext cx="1892808" cy="1234440"/>
          </a:xfrm>
          <a:prstGeom prst="roundRect">
            <a:avLst>
              <a:gd name="adj" fmla="val 4444"/>
            </a:avLst>
          </a:prstGeom>
          <a:solidFill>
            <a:srgbClr val="171717"/>
          </a:solidFill>
          <a:ln/>
        </p:spPr>
      </p:sp>
      <p:sp>
        <p:nvSpPr>
          <p:cNvPr id="32" name="Text 25"/>
          <p:cNvSpPr/>
          <p:nvPr/>
        </p:nvSpPr>
        <p:spPr>
          <a:xfrm>
            <a:off x="2715768" y="3611880"/>
            <a:ext cx="1709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Time-aware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2715768" y="4005072"/>
            <a:ext cx="17099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витоку даних (data leakage)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4700016" y="3520440"/>
            <a:ext cx="1892808" cy="1234440"/>
          </a:xfrm>
          <a:prstGeom prst="roundRect">
            <a:avLst>
              <a:gd name="adj" fmla="val 4444"/>
            </a:avLst>
          </a:prstGeom>
          <a:solidFill>
            <a:srgbClr val="171717"/>
          </a:solidFill>
          <a:ln/>
        </p:spPr>
      </p:sp>
      <p:sp>
        <p:nvSpPr>
          <p:cNvPr id="35" name="Text 28"/>
          <p:cNvSpPr/>
          <p:nvPr/>
        </p:nvSpPr>
        <p:spPr>
          <a:xfrm>
            <a:off x="4791456" y="3611880"/>
            <a:ext cx="1709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PR-AUC 0,903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4791456" y="4005072"/>
            <a:ext cx="17099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найкращий фолд крос-валідації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6775704" y="3520440"/>
            <a:ext cx="1892808" cy="1234440"/>
          </a:xfrm>
          <a:prstGeom prst="roundRect">
            <a:avLst>
              <a:gd name="adj" fmla="val 4444"/>
            </a:avLst>
          </a:prstGeom>
          <a:solidFill>
            <a:srgbClr val="171717"/>
          </a:solidFill>
          <a:ln/>
        </p:spPr>
      </p:sp>
      <p:sp>
        <p:nvSpPr>
          <p:cNvPr id="38" name="Text 31"/>
          <p:cNvSpPr/>
          <p:nvPr/>
        </p:nvSpPr>
        <p:spPr>
          <a:xfrm>
            <a:off x="6867144" y="3611880"/>
            <a:ext cx="1709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</a:t>
            </a:r>
            <a:endParaRPr lang="en-US" sz="1400" dirty="0"/>
          </a:p>
        </p:txBody>
      </p:sp>
      <p:sp>
        <p:nvSpPr>
          <p:cNvPr id="39" name="Text 32"/>
          <p:cNvSpPr/>
          <p:nvPr/>
        </p:nvSpPr>
        <p:spPr>
          <a:xfrm>
            <a:off x="6867144" y="4005072"/>
            <a:ext cx="17099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пояснення для кожного рішення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Модуль інженерії ознак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50292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88720"/>
            <a:ext cx="3931920" cy="1325880"/>
          </a:xfrm>
          <a:prstGeom prst="roundRect">
            <a:avLst>
              <a:gd name="adj" fmla="val 4828"/>
            </a:avLst>
          </a:prstGeom>
          <a:solidFill>
            <a:srgbClr val="0A0A0A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89888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35331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Часові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49808" y="18288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година, день тижня, ознака ночі/вихідного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09160" y="1188720"/>
            <a:ext cx="3931920" cy="1325880"/>
          </a:xfrm>
          <a:prstGeom prst="roundRect">
            <a:avLst>
              <a:gd name="adj" fmla="val 4828"/>
            </a:avLst>
          </a:prstGeom>
          <a:solidFill>
            <a:srgbClr val="0A0A0A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389888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0" y="135331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Поведінкові агрегати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910328" y="18288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кількість і сума транзакцій за 1/24/168 год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48640" y="2697480"/>
            <a:ext cx="3931920" cy="1325880"/>
          </a:xfrm>
          <a:prstGeom prst="roundRect">
            <a:avLst>
              <a:gd name="adj" fmla="val 4828"/>
            </a:avLst>
          </a:prstGeom>
          <a:solidFill>
            <a:srgbClr val="0A0A0A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2898648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286207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Мерчант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749808" y="33375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рівень шахрайства, к-сть унікальних користувачів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709160" y="2697480"/>
            <a:ext cx="3931920" cy="1325880"/>
          </a:xfrm>
          <a:prstGeom prst="roundRect">
            <a:avLst>
              <a:gd name="adj" fmla="val 4828"/>
            </a:avLst>
          </a:prstGeom>
          <a:solidFill>
            <a:srgbClr val="0A0A0A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2898648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86400" y="286207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Флаги аномалій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4910328" y="33375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новий пристрій, чужа країна, відхилення суми</a:t>
            </a:r>
            <a:endParaRPr lang="en-US" sz="1050" dirty="0"/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Навчання моделі LightGBM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50292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LightGBM:</a:t>
            </a:r>
            <a:endParaRPr lang="en-US" sz="135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5BB3660-43A6-4719-A767-B0EA6D2FCEFB}"/>
              </a:ext>
            </a:extLst>
          </p:cNvPr>
          <p:cNvGrpSpPr/>
          <p:nvPr/>
        </p:nvGrpSpPr>
        <p:grpSpPr>
          <a:xfrm>
            <a:off x="548640" y="1490472"/>
            <a:ext cx="3621024" cy="411480"/>
            <a:chOff x="548640" y="1490472"/>
            <a:chExt cx="3621024" cy="411480"/>
          </a:xfrm>
        </p:grpSpPr>
        <p:pic>
          <p:nvPicPr>
            <p:cNvPr id="5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8640" y="1577340"/>
              <a:ext cx="237744" cy="237744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786384" y="1490472"/>
              <a:ext cx="33832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F5F5F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Ефективний на незбалансованих даних</a:t>
              </a:r>
              <a:endParaRPr lang="en-US" sz="1150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A901FF9-E9DD-4AB4-B756-E6F233B52B29}"/>
              </a:ext>
            </a:extLst>
          </p:cNvPr>
          <p:cNvGrpSpPr/>
          <p:nvPr/>
        </p:nvGrpSpPr>
        <p:grpSpPr>
          <a:xfrm>
            <a:off x="548640" y="1993392"/>
            <a:ext cx="3621024" cy="411480"/>
            <a:chOff x="548640" y="1993392"/>
            <a:chExt cx="3621024" cy="411480"/>
          </a:xfrm>
        </p:grpSpPr>
        <p:pic>
          <p:nvPicPr>
            <p:cNvPr id="7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8640" y="2080260"/>
              <a:ext cx="237744" cy="237744"/>
            </a:xfrm>
            <a:prstGeom prst="rect">
              <a:avLst/>
            </a:prstGeom>
          </p:spPr>
        </p:pic>
        <p:sp>
          <p:nvSpPr>
            <p:cNvPr id="8" name="Text 4"/>
            <p:cNvSpPr/>
            <p:nvPr/>
          </p:nvSpPr>
          <p:spPr>
            <a:xfrm>
              <a:off x="786384" y="1993392"/>
              <a:ext cx="33832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F5F5F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Сумісний з SHAP TreeExplainer</a:t>
              </a:r>
              <a:endParaRPr lang="en-US" sz="115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A6779CF-B82C-461B-A4F9-19DA5BC9FA3E}"/>
              </a:ext>
            </a:extLst>
          </p:cNvPr>
          <p:cNvGrpSpPr/>
          <p:nvPr/>
        </p:nvGrpSpPr>
        <p:grpSpPr>
          <a:xfrm>
            <a:off x="548640" y="2496312"/>
            <a:ext cx="3621024" cy="411480"/>
            <a:chOff x="548640" y="2496312"/>
            <a:chExt cx="3621024" cy="411480"/>
          </a:xfrm>
        </p:grpSpPr>
        <p:pic>
          <p:nvPicPr>
            <p:cNvPr id="9" name="Image 2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8640" y="2583180"/>
              <a:ext cx="237744" cy="237744"/>
            </a:xfrm>
            <a:prstGeom prst="rect">
              <a:avLst/>
            </a:prstGeom>
          </p:spPr>
        </p:pic>
        <p:sp>
          <p:nvSpPr>
            <p:cNvPr id="10" name="Text 5"/>
            <p:cNvSpPr/>
            <p:nvPr/>
          </p:nvSpPr>
          <p:spPr>
            <a:xfrm>
              <a:off x="786384" y="2496312"/>
              <a:ext cx="33832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F5F5F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Швидке навчання на великих даних</a:t>
              </a:r>
              <a:endParaRPr lang="en-US" sz="1150" dirty="0"/>
            </a:p>
          </p:txBody>
        </p:sp>
      </p:grpSp>
      <p:sp>
        <p:nvSpPr>
          <p:cNvPr id="11" name="Text 6"/>
          <p:cNvSpPr/>
          <p:nvPr/>
        </p:nvSpPr>
        <p:spPr>
          <a:xfrm>
            <a:off x="4434840" y="967435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Часова крос-валідація (TimeSeriesSplit, 5 фолдів):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4434840" y="2373782"/>
            <a:ext cx="621792" cy="826618"/>
          </a:xfrm>
          <a:prstGeom prst="rect">
            <a:avLst/>
          </a:prstGeom>
          <a:solidFill>
            <a:srgbClr val="17171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389120" y="2145182"/>
            <a:ext cx="713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0.862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4389120" y="3246120"/>
            <a:ext cx="713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Ф1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5148072" y="2145182"/>
            <a:ext cx="621792" cy="1055218"/>
          </a:xfrm>
          <a:prstGeom prst="rect">
            <a:avLst/>
          </a:prstGeom>
          <a:solidFill>
            <a:srgbClr val="17171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102352" y="1916581"/>
            <a:ext cx="713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0.879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5102352" y="3246120"/>
            <a:ext cx="713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Ф2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5861304" y="1885950"/>
            <a:ext cx="621792" cy="1314449"/>
          </a:xfrm>
          <a:prstGeom prst="rect">
            <a:avLst/>
          </a:prstGeom>
          <a:solidFill>
            <a:srgbClr val="17171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815584" y="1687980"/>
            <a:ext cx="713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0.885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5815584" y="3246120"/>
            <a:ext cx="713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Ф3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574536" y="1687980"/>
            <a:ext cx="621792" cy="1512420"/>
          </a:xfrm>
          <a:prstGeom prst="rect">
            <a:avLst/>
          </a:prstGeom>
          <a:solidFill>
            <a:srgbClr val="17171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528816" y="1463040"/>
            <a:ext cx="713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0.891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6528816" y="3246120"/>
            <a:ext cx="713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Ф4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7287768" y="1548994"/>
            <a:ext cx="621792" cy="165140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242048" y="1292962"/>
            <a:ext cx="713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0.903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7242048" y="3246120"/>
            <a:ext cx="713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Ф5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4389119" y="3200400"/>
            <a:ext cx="3649981" cy="0"/>
          </a:xfrm>
          <a:prstGeom prst="line">
            <a:avLst/>
          </a:prstGeom>
          <a:noFill/>
          <a:ln w="9525">
            <a:solidFill>
              <a:srgbClr val="2A2A28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48640" y="3749040"/>
            <a:ext cx="8046720" cy="914400"/>
          </a:xfrm>
          <a:prstGeom prst="roundRect">
            <a:avLst>
              <a:gd name="adj" fmla="val 6000"/>
            </a:avLst>
          </a:prstGeom>
          <a:solidFill>
            <a:srgbClr val="1A1605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777240" y="3813048"/>
            <a:ext cx="75895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Середній PR-AUC = 0,884  ·  Найкращий фолд = 0,903  ·  Ціль ≥ 0,85 — досягнуто</a:t>
            </a:r>
            <a:endParaRPr lang="en-US" sz="1300" dirty="0"/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Пояснюваність: SHAP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50292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914400"/>
          </a:xfrm>
          <a:prstGeom prst="roundRect">
            <a:avLst>
              <a:gd name="adj" fmla="val 6000"/>
            </a:avLst>
          </a:prstGeom>
          <a:solidFill>
            <a:srgbClr val="F5F5F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52728"/>
            <a:ext cx="75895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</a:t>
            </a:r>
            <a:r>
              <a:rPr lang="en-US" sz="13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(SHapley Additive exPlanations) обчислює внесок кожної ознаки у відхилення прогнозу моделі від середнього значення на основі теорії ігор.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Приклад: топ-5 ознак для підозрілої транзакції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amount_vs_avg_ratio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0" y="2752344"/>
            <a:ext cx="4374490" cy="1828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7163410" y="269748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+1.84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08152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is_new_device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0" y="3136392"/>
            <a:ext cx="3233318" cy="1828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6022238" y="308152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+1.20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46557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is_night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0" y="3520440"/>
            <a:ext cx="2472538" cy="1828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5261458" y="346557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+0.89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84962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user_tx_count_1h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0" y="3904488"/>
            <a:ext cx="2092147" cy="1828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4881067" y="3849624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+0.74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23367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merchant_fraud_rate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0" y="4288536"/>
            <a:ext cx="1426464" cy="1828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4215384" y="423367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+0.51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 сервіс (FastAPI)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50292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8046720" cy="841248"/>
          </a:xfrm>
          <a:prstGeom prst="roundRect">
            <a:avLst>
              <a:gd name="adj" fmla="val 6522"/>
            </a:avLst>
          </a:prstGeom>
          <a:solidFill>
            <a:srgbClr val="171717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2A649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645920" y="13990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17373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системи, &lt; 10 мс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8046720" cy="841248"/>
          </a:xfrm>
          <a:prstGeom prst="roundRect">
            <a:avLst>
              <a:gd name="adj" fmla="val 6522"/>
            </a:avLst>
          </a:prstGeom>
          <a:solidFill>
            <a:srgbClr val="171717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542032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27674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54203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645920" y="238658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/score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45920" y="272491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оцінка транзакції + SHAP, &lt; 200 мс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55264"/>
            <a:ext cx="8046720" cy="841248"/>
          </a:xfrm>
          <a:prstGeom prst="roundRect">
            <a:avLst>
              <a:gd name="adj" fmla="val 6522"/>
            </a:avLst>
          </a:prstGeom>
          <a:solidFill>
            <a:srgbClr val="171717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529584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276749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529584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45920" y="337413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/batch_score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45920" y="371246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1000 транзакцій, &lt; 5000 мс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B8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Pydantic-валідація  ·  rate limiting  ·  middleware логування  ·  Docker</a:t>
            </a:r>
            <a:endParaRPr lang="en-US" sz="1150" dirty="0"/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Структура меню системи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50292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43000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4128" y="116128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Навігація бічної панелі Streamlit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8046720" cy="868680"/>
          </a:xfrm>
          <a:prstGeom prst="roundRect">
            <a:avLst>
              <a:gd name="adj" fmla="val 6316"/>
            </a:avLst>
          </a:prstGeom>
          <a:solidFill>
            <a:srgbClr val="F5F5F3"/>
          </a:solidFill>
          <a:ln/>
        </p:spPr>
      </p:sp>
      <p:sp>
        <p:nvSpPr>
          <p:cNvPr id="7" name="Text 4"/>
          <p:cNvSpPr/>
          <p:nvPr/>
        </p:nvSpPr>
        <p:spPr>
          <a:xfrm>
            <a:off x="713232" y="1737360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536192" y="18470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Перевірка транзакції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536192" y="21945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введення атрибутів, виклик POST /score, SHAP-пояснення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2724912"/>
            <a:ext cx="8046720" cy="868680"/>
          </a:xfrm>
          <a:prstGeom prst="roundRect">
            <a:avLst>
              <a:gd name="adj" fmla="val 6316"/>
            </a:avLst>
          </a:prstGeom>
          <a:solidFill>
            <a:srgbClr val="F5F5F3"/>
          </a:solidFill>
          <a:ln/>
        </p:spPr>
      </p:sp>
      <p:sp>
        <p:nvSpPr>
          <p:cNvPr id="11" name="Text 8"/>
          <p:cNvSpPr/>
          <p:nvPr/>
        </p:nvSpPr>
        <p:spPr>
          <a:xfrm>
            <a:off x="713232" y="2724912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536192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Пакетна обробка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536192" y="318211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Завантаження CSV, виклик POST /batch_score, експорт результатів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3712464"/>
            <a:ext cx="8046720" cy="868680"/>
          </a:xfrm>
          <a:prstGeom prst="roundRect">
            <a:avLst>
              <a:gd name="adj" fmla="val 6316"/>
            </a:avLst>
          </a:prstGeom>
          <a:solidFill>
            <a:srgbClr val="F5F5F3"/>
          </a:solidFill>
          <a:ln/>
        </p:spPr>
      </p:sp>
      <p:sp>
        <p:nvSpPr>
          <p:cNvPr id="15" name="Text 12"/>
          <p:cNvSpPr/>
          <p:nvPr/>
        </p:nvSpPr>
        <p:spPr>
          <a:xfrm>
            <a:off x="713232" y="3712464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536192" y="38221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Аналітична панель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536192" y="4169664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 API, графік динаміки виявлення махінацій, розподіл рішень</a:t>
            </a:r>
            <a:endParaRPr lang="en-US" sz="1050" dirty="0"/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Інтерфейс: перевірка транзакції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50292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6B0DE2D-FE54-40F1-8B27-06A30E1DD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901" y="1245453"/>
            <a:ext cx="7166198" cy="3142139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Інтерфейс: пояснення та CSV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50292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0DF8F68-2467-4877-B881-8640F01C0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37638"/>
            <a:ext cx="3266760" cy="352540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9BA1E8F-FE34-431F-B406-27086D671E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5722" y="1120435"/>
            <a:ext cx="2824988" cy="354260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Тестування: автоматизовані тести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50292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219456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Категорія тестів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Всього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Успішних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Покриття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Модульні (features.py)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Модульні (inference.py)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Інтеграційні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Функціональні (API)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703320"/>
            <a:ext cx="8046720" cy="777240"/>
          </a:xfrm>
          <a:prstGeom prst="roundRect">
            <a:avLst>
              <a:gd name="adj" fmla="val 7059"/>
            </a:avLst>
          </a:prstGeom>
          <a:solidFill>
            <a:srgbClr val="1A1605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376732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Разом: 85 тест-кейсів · 85 успішних · 0 помилок · Покриття коду — 89%</a:t>
            </a:r>
            <a:endParaRPr lang="en-US" sz="1300" dirty="0"/>
          </a:p>
        </p:txBody>
      </p:sp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Тестування: навантажувальне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50292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1892808" cy="1371600"/>
          </a:xfrm>
          <a:prstGeom prst="roundRect">
            <a:avLst>
              <a:gd name="adj" fmla="val 4667"/>
            </a:avLst>
          </a:prstGeom>
          <a:solidFill>
            <a:srgbClr val="0A0A0A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53312"/>
            <a:ext cx="1892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920240"/>
            <a:ext cx="1746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Паралельних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B8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користувачів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24328" y="1234440"/>
            <a:ext cx="1892808" cy="1371600"/>
          </a:xfrm>
          <a:prstGeom prst="roundRect">
            <a:avLst>
              <a:gd name="adj" fmla="val 4667"/>
            </a:avLst>
          </a:prstGeom>
          <a:solidFill>
            <a:srgbClr val="0A0A0A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24328" y="1353312"/>
            <a:ext cx="1892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 мс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697480" y="1920240"/>
            <a:ext cx="1746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Медіана часу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B8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відповіді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0016" y="1234440"/>
            <a:ext cx="1892808" cy="1371600"/>
          </a:xfrm>
          <a:prstGeom prst="roundRect">
            <a:avLst>
              <a:gd name="adj" fmla="val 4667"/>
            </a:avLst>
          </a:prstGeom>
          <a:solidFill>
            <a:srgbClr val="0A0A0A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0016" y="1353312"/>
            <a:ext cx="1892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143 мс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73168" y="1920240"/>
            <a:ext cx="1746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95-й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B8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перцентиль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75704" y="1234440"/>
            <a:ext cx="1892808" cy="1371600"/>
          </a:xfrm>
          <a:prstGeom prst="roundRect">
            <a:avLst>
              <a:gd name="adj" fmla="val 4667"/>
            </a:avLst>
          </a:prstGeom>
          <a:solidFill>
            <a:srgbClr val="0A0A0A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75704" y="1353312"/>
            <a:ext cx="1892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49.4/с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48856" y="1920240"/>
            <a:ext cx="1746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Пропускна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B8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здатність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2880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Порівняння з порогом SLA (500 мс):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337560"/>
            <a:ext cx="5029200" cy="365760"/>
          </a:xfrm>
          <a:prstGeom prst="rect">
            <a:avLst/>
          </a:prstGeom>
          <a:solidFill>
            <a:srgbClr val="F5F5F3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337560"/>
            <a:ext cx="875081" cy="3657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9" name="Shape 17"/>
          <p:cNvSpPr/>
          <p:nvPr/>
        </p:nvSpPr>
        <p:spPr>
          <a:xfrm>
            <a:off x="5577840" y="3246120"/>
            <a:ext cx="0" cy="54864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383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мс (медіана)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15000" y="32918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500 мс →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4069080"/>
            <a:ext cx="8046720" cy="777240"/>
          </a:xfrm>
          <a:prstGeom prst="roundRect">
            <a:avLst>
              <a:gd name="adj" fmla="val 7059"/>
            </a:avLst>
          </a:prstGeom>
          <a:solidFill>
            <a:srgbClr val="F5F5F3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133088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14 820 запитів, 0 помилок (HTTP 200) — медіана у 5,7 разів швидша за поріг SLA.</a:t>
            </a:r>
            <a:endParaRPr lang="en-US" sz="1250" dirty="0"/>
          </a:p>
        </p:txBody>
      </p:sp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Техніко-економічне обґрунтування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50292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3931920" cy="1188720"/>
          </a:xfrm>
          <a:prstGeom prst="roundRect">
            <a:avLst>
              <a:gd name="adj" fmla="val 5385"/>
            </a:avLst>
          </a:prstGeom>
          <a:solidFill>
            <a:srgbClr val="17171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92 000 ₴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94767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Витрати на розробку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9160" y="1234440"/>
            <a:ext cx="3931920" cy="1188720"/>
          </a:xfrm>
          <a:prstGeom prst="roundRect">
            <a:avLst>
              <a:gd name="adj" fmla="val 5385"/>
            </a:avLst>
          </a:prstGeom>
          <a:solidFill>
            <a:srgbClr val="171717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13716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112 000 ₴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892040" y="194767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Очікувана економія / рік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3931920" cy="1188720"/>
          </a:xfrm>
          <a:prstGeom prst="roundRect">
            <a:avLst>
              <a:gd name="adj" fmla="val 5385"/>
            </a:avLst>
          </a:prstGeom>
          <a:solidFill>
            <a:srgbClr val="17171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7432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0,82 року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331927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Термін окупності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09160" y="2606040"/>
            <a:ext cx="3931920" cy="1188720"/>
          </a:xfrm>
          <a:prstGeom prst="roundRect">
            <a:avLst>
              <a:gd name="adj" fmla="val 5385"/>
            </a:avLst>
          </a:prstGeom>
          <a:solidFill>
            <a:srgbClr val="171717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27432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60%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892040" y="331927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Зниження ручної перевірки</a:t>
            </a:r>
            <a:endParaRPr lang="en-US" sz="1150" dirty="0"/>
          </a:p>
        </p:txBody>
      </p:sp>
    </p:spTree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Перспективи розвитку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50292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8046720" cy="1005840"/>
          </a:xfrm>
          <a:prstGeom prst="roundRect">
            <a:avLst>
              <a:gd name="adj" fmla="val 5455"/>
            </a:avLst>
          </a:prstGeom>
          <a:solidFill>
            <a:srgbClr val="F5F5F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544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4173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Графові нейронні мережі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417320" y="1810512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виявлення мережевих схем шахрайства між кількома акаунтами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423160"/>
            <a:ext cx="8046720" cy="1005840"/>
          </a:xfrm>
          <a:prstGeom prst="roundRect">
            <a:avLst>
              <a:gd name="adj" fmla="val 5455"/>
            </a:avLst>
          </a:prstGeom>
          <a:solidFill>
            <a:srgbClr val="F5F5F3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6974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5603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Онлайн-навчання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417320" y="2953512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адаптація моделі до нових патернів без повного перенавчання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3566160"/>
            <a:ext cx="8046720" cy="1005840"/>
          </a:xfrm>
          <a:prstGeom prst="roundRect">
            <a:avLst>
              <a:gd name="adj" fmla="val 5455"/>
            </a:avLst>
          </a:prstGeom>
          <a:solidFill>
            <a:srgbClr val="F5F5F3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8404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7033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Розширений аудит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417320" y="4096512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журналювання рішень для регуляторної звітності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Висновки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50292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25296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1188720"/>
            <a:ext cx="7607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Розроблено 5-компонентну архітектуру: інженерія ознак, навчання, інференс, REST API, веб-інтерфейс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65376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87552" y="1828800"/>
            <a:ext cx="7607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LightGBM досягла PR-AUC 0,903 на найкращому фолді (середнє — 0,884), що перевищує цільову вимогу 0,85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05456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87552" y="2468880"/>
            <a:ext cx="7607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TreeExplainer забезпечує прозорі локальні та глобальні пояснення кожного рішення</a:t>
            </a:r>
            <a:endParaRPr lang="en-US" sz="12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45536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87552" y="3108960"/>
            <a:ext cx="7607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тест-кейсів пройдено без помилок, покриття коду — 89%; медіана відповіді API — 87 мс</a:t>
            </a:r>
            <a:endParaRPr lang="en-US" sz="12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85616"/>
            <a:ext cx="274320" cy="2743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87552" y="3749040"/>
            <a:ext cx="7607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Термін окупності розробки — 0,82 року; система готова до впровадження у банківських установах</a:t>
            </a:r>
            <a:endParaRPr lang="en-US" sz="1250" dirty="0"/>
          </a:p>
        </p:txBody>
      </p:sp>
    </p:spTree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05840" cy="0"/>
          </a:xfrm>
          <a:prstGeom prst="line">
            <a:avLst/>
          </a:prstGeom>
          <a:noFill/>
          <a:ln w="15240">
            <a:solidFill>
              <a:srgbClr val="C9A2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0" cy="1005840"/>
          </a:xfrm>
          <a:prstGeom prst="line">
            <a:avLst/>
          </a:prstGeom>
          <a:noFill/>
          <a:ln w="1524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4686300"/>
            <a:ext cx="0" cy="0"/>
          </a:xfrm>
          <a:prstGeom prst="line">
            <a:avLst/>
          </a:prstGeom>
          <a:noFill/>
          <a:ln w="1524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0" y="4686300"/>
            <a:ext cx="0" cy="0"/>
          </a:xfrm>
          <a:prstGeom prst="line">
            <a:avLst/>
          </a:prstGeom>
          <a:noFill/>
          <a:ln w="15240">
            <a:solidFill>
              <a:srgbClr val="C9A227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1188720"/>
            <a:ext cx="1005840" cy="1005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0" y="2468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Дякую за увагу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0" y="32004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Готовий відповісти на запитання комісії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0" y="44805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Кінаш Валентин Володимирович  ·  гр. КН-41  ·  2026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1786</Words>
  <Application>Microsoft Office PowerPoint</Application>
  <PresentationFormat>On-screen Show (16:9)</PresentationFormat>
  <Paragraphs>265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 детекції шахрайських транзакцій</dc:title>
  <dc:subject>PptxGenJS Presentation</dc:subject>
  <dc:creator>PptxGenJS</dc:creator>
  <cp:lastModifiedBy>Valentyn Kinash</cp:lastModifiedBy>
  <cp:revision>14</cp:revision>
  <dcterms:created xsi:type="dcterms:W3CDTF">2026-06-21T21:53:50Z</dcterms:created>
  <dcterms:modified xsi:type="dcterms:W3CDTF">2026-06-22T12:26:07Z</dcterms:modified>
</cp:coreProperties>
</file>